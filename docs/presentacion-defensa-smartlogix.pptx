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5a18e889b43db" /><Relationship Type="http://schemas.openxmlformats.org/officeDocument/2006/relationships/extended-properties" Target="/docProps/app.xml" Id="R388b75cb99994c4a" /><Relationship Type="http://schemas.openxmlformats.org/officeDocument/2006/relationships/officeDocument" Target="/ppt/presentation.xml" Id="Rebf692d1f4994f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ffeffbf214e6e"/>
  </p:sldMasterIdLst>
  <p:notesMasterIdLst>
    <p:notesMasterId xmlns:r="http://schemas.openxmlformats.org/officeDocument/2006/relationships" r:id="R1bf4293f1be94533"/>
  </p:notesMasterIdLst>
  <p:sldIdLst>
    <p:sldId xmlns:r="http://schemas.openxmlformats.org/officeDocument/2006/relationships" id="256" r:id="R952d2c55ab684f62"/>
    <p:sldId xmlns:r="http://schemas.openxmlformats.org/officeDocument/2006/relationships" id="257" r:id="Rb0d7683781744d1b"/>
    <p:sldId xmlns:r="http://schemas.openxmlformats.org/officeDocument/2006/relationships" id="258" r:id="R8ec0bf8448db4f70"/>
    <p:sldId xmlns:r="http://schemas.openxmlformats.org/officeDocument/2006/relationships" id="259" r:id="R56bcd5e9a4ca4444"/>
    <p:sldId xmlns:r="http://schemas.openxmlformats.org/officeDocument/2006/relationships" id="260" r:id="Rfb98725e8cbf4683"/>
    <p:sldId xmlns:r="http://schemas.openxmlformats.org/officeDocument/2006/relationships" id="261" r:id="Rde7a793740bb4d2d"/>
    <p:sldId xmlns:r="http://schemas.openxmlformats.org/officeDocument/2006/relationships" id="262" r:id="R09fed838cdb6428f"/>
    <p:sldId xmlns:r="http://schemas.openxmlformats.org/officeDocument/2006/relationships" id="263" r:id="R852c0c1b09294ecc"/>
    <p:sldId xmlns:r="http://schemas.openxmlformats.org/officeDocument/2006/relationships" id="264" r:id="R5da42c68b9e44d2a"/>
    <p:sldId xmlns:r="http://schemas.openxmlformats.org/officeDocument/2006/relationships" id="265" r:id="Rd4d2bacd3203475a"/>
    <p:sldId xmlns:r="http://schemas.openxmlformats.org/officeDocument/2006/relationships" id="266" r:id="Rb59d24a53b564797"/>
    <p:sldId xmlns:r="http://schemas.openxmlformats.org/officeDocument/2006/relationships" id="267" r:id="Re5d299aaba6f42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ffeffbf214e6e" /><Relationship Type="http://schemas.openxmlformats.org/officeDocument/2006/relationships/theme" Target="/ppt/theme/theme1.xml" Id="R9d2971d3fa2e4335" /><Relationship Type="http://schemas.openxmlformats.org/officeDocument/2006/relationships/notesMaster" Target="/ppt/notesMasters/notesMaster1.xml" Id="R1bf4293f1be94533" /><Relationship Type="http://schemas.openxmlformats.org/officeDocument/2006/relationships/presProps" Target="/ppt/presProps.xml" Id="R7d2c8fb9a5c549f9" /><Relationship Type="http://schemas.openxmlformats.org/officeDocument/2006/relationships/viewProps" Target="/ppt/viewProps.xml" Id="R273ab0fde6c9432a" /><Relationship Type="http://schemas.openxmlformats.org/officeDocument/2006/relationships/tableStyles" Target="/ppt/tableStyles.xml" Id="Rbab1533d4a4f4cd1" /><Relationship Type="http://schemas.openxmlformats.org/officeDocument/2006/relationships/slide" Target="/ppt/slides/slide1.xml" Id="R952d2c55ab684f62" /><Relationship Type="http://schemas.openxmlformats.org/officeDocument/2006/relationships/slide" Target="/ppt/slides/slide2.xml" Id="Rb0d7683781744d1b" /><Relationship Type="http://schemas.openxmlformats.org/officeDocument/2006/relationships/slide" Target="/ppt/slides/slide3.xml" Id="R8ec0bf8448db4f70" /><Relationship Type="http://schemas.openxmlformats.org/officeDocument/2006/relationships/slide" Target="/ppt/slides/slide4.xml" Id="R56bcd5e9a4ca4444" /><Relationship Type="http://schemas.openxmlformats.org/officeDocument/2006/relationships/slide" Target="/ppt/slides/slide5.xml" Id="Rfb98725e8cbf4683" /><Relationship Type="http://schemas.openxmlformats.org/officeDocument/2006/relationships/slide" Target="/ppt/slides/slide6.xml" Id="Rde7a793740bb4d2d" /><Relationship Type="http://schemas.openxmlformats.org/officeDocument/2006/relationships/slide" Target="/ppt/slides/slide7.xml" Id="R09fed838cdb6428f" /><Relationship Type="http://schemas.openxmlformats.org/officeDocument/2006/relationships/slide" Target="/ppt/slides/slide8.xml" Id="R852c0c1b09294ecc" /><Relationship Type="http://schemas.openxmlformats.org/officeDocument/2006/relationships/slide" Target="/ppt/slides/slide9.xml" Id="R5da42c68b9e44d2a" /><Relationship Type="http://schemas.openxmlformats.org/officeDocument/2006/relationships/slide" Target="/ppt/slides/slide10.xml" Id="Rd4d2bacd3203475a" /><Relationship Type="http://schemas.openxmlformats.org/officeDocument/2006/relationships/slide" Target="/ppt/slides/slide11.xml" Id="Rb59d24a53b564797" /><Relationship Type="http://schemas.openxmlformats.org/officeDocument/2006/relationships/slide" Target="/ppt/slides/slide12.xml" Id="Re5d299aaba6f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995985a044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1a301e6f14d4d" /><Relationship Type="http://schemas.openxmlformats.org/officeDocument/2006/relationships/notesMaster" Target="/ppt/notesMasters/notesMaster1.xml" Id="R2fea62b92faf4c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8996dc25aa42be" /><Relationship Type="http://schemas.openxmlformats.org/officeDocument/2006/relationships/notesMaster" Target="/ppt/notesMasters/notesMaster1.xml" Id="R579cc1dc5c80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40c361fa848c9" /><Relationship Type="http://schemas.openxmlformats.org/officeDocument/2006/relationships/notesMaster" Target="/ppt/notesMasters/notesMaster1.xml" Id="R5ac794fc3c464f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f6f78b10d446d7" /><Relationship Type="http://schemas.openxmlformats.org/officeDocument/2006/relationships/notesMaster" Target="/ppt/notesMasters/notesMaster1.xml" Id="Rb21b039b6d9a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778c2fd1f4412" /><Relationship Type="http://schemas.openxmlformats.org/officeDocument/2006/relationships/notesMaster" Target="/ppt/notesMasters/notesMaster1.xml" Id="R35eaeed32b094e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21bc2922c41b5" /><Relationship Type="http://schemas.openxmlformats.org/officeDocument/2006/relationships/notesMaster" Target="/ppt/notesMasters/notesMaster1.xml" Id="R1ddd6591a2c747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5745538afc4eae" /><Relationship Type="http://schemas.openxmlformats.org/officeDocument/2006/relationships/notesMaster" Target="/ppt/notesMasters/notesMaster1.xml" Id="R09b4930de87949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0c457826d4c87" /><Relationship Type="http://schemas.openxmlformats.org/officeDocument/2006/relationships/notesMaster" Target="/ppt/notesMasters/notesMaster1.xml" Id="Re506b2f15b1d41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d66107b2944b0e" /><Relationship Type="http://schemas.openxmlformats.org/officeDocument/2006/relationships/notesMaster" Target="/ppt/notesMasters/notesMaster1.xml" Id="R70073d5346ea45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496de8529d401f" /><Relationship Type="http://schemas.openxmlformats.org/officeDocument/2006/relationships/notesMaster" Target="/ppt/notesMasters/notesMaster1.xml" Id="R602b953610264b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56842ba69547d2" /><Relationship Type="http://schemas.openxmlformats.org/officeDocument/2006/relationships/notesMaster" Target="/ppt/notesMasters/notesMaster1.xml" Id="R661d439c550446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e00d8307a4428" /><Relationship Type="http://schemas.openxmlformats.org/officeDocument/2006/relationships/notesMaster" Target="/ppt/notesMasters/notesMaster1.xml" Id="Rc8ea24940bf045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6baa363a643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c40494f40984f28" /><Relationship Type="http://schemas.openxmlformats.org/officeDocument/2006/relationships/slideLayout" Target="/ppt/slideLayouts/slideLayout2.xml" Id="Rcbbf23101416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f23101416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c6101dec8486e" /><Relationship Type="http://schemas.openxmlformats.org/officeDocument/2006/relationships/image" Target="/ppt/media/image.png" Id="R1c4da44cbe6840d5" /><Relationship Type="http://schemas.openxmlformats.org/officeDocument/2006/relationships/notesSlide" Target="/ppt/notesSlides/notesSlide1.xml" Id="Rbe60fb67e1fc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d07d1399bc4330" /><Relationship Type="http://schemas.openxmlformats.org/officeDocument/2006/relationships/notesSlide" Target="/ppt/notesSlides/notesSlide2.xml" Id="Rb13a9be59902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79c56d6c584f48" /><Relationship Type="http://schemas.openxmlformats.org/officeDocument/2006/relationships/image" Target="/ppt/media/image2.png" Id="R4fbddb3715b2497f" /><Relationship Type="http://schemas.openxmlformats.org/officeDocument/2006/relationships/notesSlide" Target="/ppt/notesSlides/notesSlide3.xml" Id="R6b031d80a5c0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e049e776104e93" /><Relationship Type="http://schemas.openxmlformats.org/officeDocument/2006/relationships/image" Target="/ppt/media/image3.png" Id="Reb117c51743d4f19" /><Relationship Type="http://schemas.openxmlformats.org/officeDocument/2006/relationships/notesSlide" Target="/ppt/notesSlides/notesSlide4.xml" Id="Rd5cec3e50f66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7a569559d4f32" /><Relationship Type="http://schemas.openxmlformats.org/officeDocument/2006/relationships/image" Target="/ppt/media/image4.png" Id="Re261201b63074221" /><Relationship Type="http://schemas.openxmlformats.org/officeDocument/2006/relationships/notesSlide" Target="/ppt/notesSlides/notesSlide5.xml" Id="R43f061b1c604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6cffe07314964" /><Relationship Type="http://schemas.openxmlformats.org/officeDocument/2006/relationships/image" Target="/ppt/media/image5.png" Id="Re7978f9ac70a4017" /><Relationship Type="http://schemas.openxmlformats.org/officeDocument/2006/relationships/notesSlide" Target="/ppt/notesSlides/notesSlide6.xml" Id="R27d900a0a2ab43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c8f1c7ed44875" /><Relationship Type="http://schemas.openxmlformats.org/officeDocument/2006/relationships/image" Target="/ppt/media/image6.png" Id="R16a09804a156486f" /><Relationship Type="http://schemas.openxmlformats.org/officeDocument/2006/relationships/image" Target="/ppt/media/image7.png" Id="R02c6e14ae4fb46fb" /><Relationship Type="http://schemas.openxmlformats.org/officeDocument/2006/relationships/notesSlide" Target="/ppt/notesSlides/notesSlide7.xml" Id="Rd83bb785a5d047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9571fef004ce1" /><Relationship Type="http://schemas.openxmlformats.org/officeDocument/2006/relationships/image" Target="/ppt/media/image8.png" Id="R6cf4de678da34f13" /><Relationship Type="http://schemas.openxmlformats.org/officeDocument/2006/relationships/image" Target="/ppt/media/image9.png" Id="R2b4ffdc8fcd6450c" /><Relationship Type="http://schemas.openxmlformats.org/officeDocument/2006/relationships/image" Target="/ppt/media/image10.png" Id="R505af772006b4253" /><Relationship Type="http://schemas.openxmlformats.org/officeDocument/2006/relationships/image" Target="/ppt/media/image11.png" Id="R99fc0579a4224817" /><Relationship Type="http://schemas.openxmlformats.org/officeDocument/2006/relationships/notesSlide" Target="/ppt/notesSlides/notesSlide8.xml" Id="Ra26a1be72bd047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5af3baa0c40ec" /><Relationship Type="http://schemas.openxmlformats.org/officeDocument/2006/relationships/notesSlide" Target="/ppt/notesSlides/notesSlide9.xml" Id="R885aa56c8e6742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b010625df4129" /><Relationship Type="http://schemas.openxmlformats.org/officeDocument/2006/relationships/image" Target="/ppt/media/image12.png" Id="R05f530ae9eac4730" /><Relationship Type="http://schemas.openxmlformats.org/officeDocument/2006/relationships/image" Target="/ppt/media/image13.png" Id="R9e23ac820dd2412a" /><Relationship Type="http://schemas.openxmlformats.org/officeDocument/2006/relationships/image" Target="/ppt/media/image14.png" Id="R5591f90a2f8d496f" /><Relationship Type="http://schemas.openxmlformats.org/officeDocument/2006/relationships/image" Target="/ppt/media/image15.png" Id="R8f44b28912ca413a" /><Relationship Type="http://schemas.openxmlformats.org/officeDocument/2006/relationships/image" Target="/ppt/media/image16.png" Id="Reb5680f2fb9d4b7a" /><Relationship Type="http://schemas.openxmlformats.org/officeDocument/2006/relationships/notesSlide" Target="/ppt/notesSlides/notesSlide10.xml" Id="R18f977201e6045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b48a3390d45b2" /><Relationship Type="http://schemas.openxmlformats.org/officeDocument/2006/relationships/image" Target="/ppt/media/image17.png" Id="Rcece0167fe804569" /><Relationship Type="http://schemas.openxmlformats.org/officeDocument/2006/relationships/notesSlide" Target="/ppt/notesSlides/notesSlide11.xml" Id="R5015f4240902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f6c94a239460c" /><Relationship Type="http://schemas.openxmlformats.org/officeDocument/2006/relationships/image" Target="/ppt/media/image18.png" Id="R9bd52e56aea54ff3" /><Relationship Type="http://schemas.openxmlformats.org/officeDocument/2006/relationships/image" Target="/ppt/media/image19.png" Id="R1ab175a0abf04179" /><Relationship Type="http://schemas.openxmlformats.org/officeDocument/2006/relationships/notesSlide" Target="/ppt/notesSlides/notesSlide12.xml" Id="Rceda5f78207c42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2D7CF-DDAA-4CC4-B9DD-62A4707A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EFBA3-F12D-4135-9CAE-9FC0CA3E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8B33C-C5E8-49E9-BC8D-B76327E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191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SmartLogix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E11B5-C30F-4B30-83FF-B2D6BA5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5334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Plataforma inteligente para gestion logistica de eCommerce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C80D7-7501-4925-AE3D-18FEE7FB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43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React + Spring Boot + API Gateway + JWT +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111B4-080C-42A7-93DD-FB93A5A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00A6A6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Microservicios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EEBDC-EDA4-478B-9360-506A8AF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2F855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Database per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0BD79-7B61-42DD-9757-B3AE01C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F59E0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Pruebas unitarias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EBC0B-5A55-4BA5-A446-63F0B2C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00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561D2-A38B-4D77-A744-2C1005F0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3144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3BFCE-FE87-416E-818A-7E53DEF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314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microservicios backend principales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52044-3F28-4C59-A0EE-2C73E9B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2F855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446CD-2C7B-4E34-88C3-3E3D938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7907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771C0-8F96-49DF-862C-028F154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seguridad con roles y minimo privilegio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CDFBA-6A9C-46A9-9B72-29BB17BC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9D1E6-4094-4DE8-B5D3-4FC1213A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0050"/>
            <a:ext cx="13144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25B13-B898-4C72-A83B-2B3AFAE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314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evidencias visuales incluidas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A7507-5F23-4048-A493-68CBEA1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62000"/>
            <a:ext cx="4762500" cy="48387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44cbe6840d5"/>
          <a:stretch xmlns:a="http://schemas.openxmlformats.org/drawingml/2006/main"/>
        </p:blipFill>
        <p:spPr>
          <a:xfrm xmlns:a="http://schemas.openxmlformats.org/drawingml/2006/main">
            <a:off x="6715125" y="1882486"/>
            <a:ext cx="4762500" cy="259772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3B5EC-90F8-4541-AA25-80598A8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3619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4D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4D2"/>
                </a:solidFill>
                <a:latin typeface="Aptos"/>
                <a:ea typeface="Aptos"/>
                <a:cs typeface="Aptos"/>
              </a:rPr>
              <a:t>Defensa EV3 Fullstack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34F2C-F1F9-4AE3-B6D3-098E381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56024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0E2C4-8AB2-4DDA-BE05-BCD2AA87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C1D3A-E715-43AA-9586-281AED5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B8E65-46E4-4F99-91B1-FEFD2CA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525F-D770-4F29-B916-5A9FE683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solucion separa la gestion logistica en dominios claros.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8DE7E-8388-4D95-97D4-1483249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El objetivo es reemplazar procesos manuales o monoliticos por una arquitectura mantenible.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7CF6-58EE-4D10-96D6-4847769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16E8E-8459-4D93-A074-4735D8A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1336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auth-service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E40F-CAAB-4E40-B269-BDAAD4DB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1336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Usuarios, roles, permisos, login y emision de JWT. No maneja pedidos, inventario ni envios.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48E6-6390-4BD5-9AD3-342F0E2F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2F85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0019B-C18B-4534-9344-B83AA3C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21336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inventario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4CDBF-6FF7-4EE0-AD3B-C8BBA096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05050"/>
            <a:ext cx="21336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Productos, stock, movimientos y disponibilidad. No administra usuarios ni pedidos.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AC26-012D-4FD1-AE8A-233AAA3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C82EF-78E8-45EA-8592-2809B219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21336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pedidos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C24E8-0D01-43F4-ABF2-BD1ACDF3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21336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Creacion, validacion, estados y trazabilidad. Consulta stock por DTOs.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23AAE-DFA3-457B-BC5B-75AAF3DF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D14D3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2DD87-5D85-4704-B0FD-70B83729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18478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4D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D3F"/>
                </a:solidFill>
                <a:latin typeface="Aptos"/>
                <a:ea typeface="Aptos"/>
                <a:cs typeface="Aptos"/>
              </a:rPr>
              <a:t>envios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74F8E-D5B0-479A-8C04-13EEFD6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84785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Despachos, rutas, tracking y estados de entrega. Consulta pedidos listos para despacho.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BC26F-EB67-406A-B6EA-5C11E263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286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fronteras de responsabilidad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69919-561D-4C04-9BA8-30624D4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04825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servicio tiene su propia base de datos, su capa controller/service/repository y contratos REST. La autenticacion se centraliza en auth-service y la validacion inicial del token en el API Gateway.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F0979-B293-4216-A4E5-876445D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20002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impacto para la defensa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2CEB6-2E65-4830-A20D-C3AE9631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43815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arquitectura permite explicar seguridad, persistencia, pruebas y resiliencia con evidencias separadas por modulo, sin mezclar responsabilidades.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49597-FC32-4B4A-B30D-641EEDD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evidencias locales SmartLogix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28213-0CFA-4FD6-9BC7-C720802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7875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7A674-4258-4DB1-8F1A-097A2A2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A84CD-E02D-41F8-A244-E305242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267B7-A4F7-480D-AB7F-EDEDE3CB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9C39D-CB6F-4CC1-B330-1F75285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API Gateway concentra entrada, JWT y ruteo hacia microservicios independientes.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9827-14D4-46C0-85CC-F51A06F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Diagrama generado para explicar la vista completa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208FD-EB5B-4285-A95F-65E6AC39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19187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ddb3715b2497f"/>
          <a:stretch xmlns:a="http://schemas.openxmlformats.org/drawingml/2006/main"/>
        </p:blipFill>
        <p:spPr>
          <a:xfrm xmlns:a="http://schemas.openxmlformats.org/drawingml/2006/main">
            <a:off x="1725613" y="1428750"/>
            <a:ext cx="87312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7ED34-F830-4102-A07B-F3F0D64C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Gemini_Generated_Image_crs9zjcrs9zjcrs9.png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5A78-9C17-4FE3-956A-32C8A0F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3731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32D2C-9C30-4C0D-B9DF-865CFB0F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CA44E-9FA9-42CA-8B86-80D251C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A7849-8155-4CA4-A478-C00CD75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27175-AA04-4361-AF4C-DDB345C8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capa service/repository mantiene la logica fuera de los controladores.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DB461-B628-48A5-B63B-6532C75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 persistencia queda aislada por microservicio.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A3AAB-75D8-4D5F-A0CC-0BBF90D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918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17c51743d4f19"/>
          <a:stretch xmlns:a="http://schemas.openxmlformats.org/drawingml/2006/main"/>
        </p:blipFill>
        <p:spPr>
          <a:xfrm xmlns:a="http://schemas.openxmlformats.org/drawingml/2006/main">
            <a:off x="1739503" y="1381125"/>
            <a:ext cx="8703469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903A2-0A7D-436D-90D4-A2B41067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Gemini_Generated_Image_6jzhp46jzhp46jzh.png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FB371-078F-462E-921C-C74DBC0E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500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97BBE-ED33-4A2B-9902-EAF2388B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55A4-F1DD-4658-B7F2-E25302F3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4216C-5F16-4F5B-A104-FEF6914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E4F33-B9D4-4D82-B6FB-CA9B287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modelo de datos evita joins fisicos entre bases ajenas.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C85B1-49B2-4387-B29C-E453C9F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Las relaciones entre servicios se manejan como referencias logicas.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6FE9B-0B0F-47E1-B51E-A9DB175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918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1201b63074221"/>
          <a:stretch xmlns:a="http://schemas.openxmlformats.org/drawingml/2006/main"/>
        </p:blipFill>
        <p:spPr>
          <a:xfrm xmlns:a="http://schemas.openxmlformats.org/drawingml/2006/main">
            <a:off x="1739503" y="1381125"/>
            <a:ext cx="8703469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8DA12-B000-4113-8517-B68B145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Gemini_Generated_Image_s60dv1s60dv1s60d.png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CA125-759B-4CE1-81F6-3D9172FD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07314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F8C54-26A1-4795-8084-01BB1179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8962F-E179-4C90-8395-67829639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E030A-FAC7-4853-9725-86D9B0C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4804B-4545-45F4-99CB-58EAA0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JWT y roles aplican minimo privilegio por ruta.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EA1E4-9E11-48B0-8888-E8D9ACE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El Gateway valida entrada y los servicios pueden reforzar autorizacion.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228EA-BC93-4DCC-B340-CE053B95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52625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A5E56-82EB-48F5-9F30-9A7F8CDF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BE902-7196-4154-B1A3-86AEDCB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695450"/>
            <a:ext cx="3429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932B8-E6E1-495D-BD17-BC1958F0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9070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Roles principales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3E553-59C5-4358-A1E0-9A8B46B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695450"/>
            <a:ext cx="4953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8082-4507-453F-A770-3A9A25A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9070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Responsabilidad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A7B75-3094-4FCA-81EE-14F86EA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C737C-2C8E-4FA8-9E68-AC80E65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/auth/**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53757-479E-449D-8C37-4847EE4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860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92BBA-B4A0-43E6-BE40-A6C89AB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8125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Publico /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51ED1-FE89-4912-8E15-E4C9D45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860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C6F4C-58B7-452C-B56F-640100F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8125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Login, registro y administracion controlada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2E178-BC58-4384-A36E-82753ECB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70F53-031C-4180-8ABD-A046FF98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/users/**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20932-E8D2-4A68-BD51-CE3631B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76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92CC2-B325-46F4-A699-E4C6FF86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7180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DC240-269E-4FF1-9336-7D408F6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765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15991-265A-4DBB-A59B-343F8DC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7180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Gestion de usuarios y 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23D7D-F93C-4C82-8551-DF217E43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FA9BA-F7BC-45A0-AD57-D0D0865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/inventory/**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C4FFA-6569-4BC5-8332-4223DE27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67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6FC6D-133A-4592-A7AF-C2E3736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6235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/ OPERADOR_INVENTARIO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2F169-BC75-4742-B22B-89AB4E27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671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2DD06-0FDB-4E0A-85AD-6411A24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6235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Productos, stock y disponibilidad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A479BB-C14F-42A4-B374-D1F0C9A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5A695-9B9E-4BC1-A740-86DDB3E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/orders/**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F146B-1BBE-436E-8669-ADCC48DF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576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A05EC-2C48-4E58-8771-6912C94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15290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/ OPERADOR_PEDIDOS / CLIENTE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88576-F878-4D28-A013-5B472767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576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5C7377-64D2-409F-958C-C3F1E678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5290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Pedidos propios o gestion operativa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4F5EA-7E74-43CD-A465-C26774F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83F01-167D-4524-830C-DF78B48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724025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/shipping/**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963F3-7F9F-45F4-8C64-C408A45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482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9E0C8-D351-44E9-ADEC-D1C5FAE0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743450"/>
            <a:ext cx="3200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/ OPERADOR_ENVIOS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3D3E4-8BC9-4BCD-905C-8B5E9F7F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482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7DF8C-9386-4A9E-B49B-7E43F56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43450"/>
            <a:ext cx="47244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Despachos y tracking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20542D-1CE2-435D-AB4C-0175E39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0"/>
            <a:ext cx="2286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78f9ac70a4017"/>
          <a:stretch xmlns:a="http://schemas.openxmlformats.org/drawingml/2006/main"/>
        </p:blipFill>
        <p:spPr>
          <a:xfrm xmlns:a="http://schemas.openxmlformats.org/drawingml/2006/main">
            <a:off x="9259358" y="4991100"/>
            <a:ext cx="2150533" cy="120967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DC3A1E-85AA-4CDB-988A-D77D771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667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Evidencia: una ruta protegida devuelve 401 cuando no existe token valido.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12327A-3902-4AD5-AF58-BDD6996B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evidencias locales de JWT, Gateway y rutas por rol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7FCF2-E8CB-462F-BFAE-58BFE44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69121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10E8C-CEFA-4D4B-AC27-D0154439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0E5DE-8AB1-4872-B897-EC42911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1B0C9-1652-4B68-873A-8038DEC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EXPERIENCIA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E139B-E957-41BC-A5FF-8FBEB66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consume el Gateway y el token protege las rutas.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77D2B-D4BE-442B-9A3F-273C16E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Dos capturas muestran el acceso y la respuesta de seguridad.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C8C13-0AB3-4B0C-8B22-DE7CF5C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863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09804a156486f"/>
          <a:stretch xmlns:a="http://schemas.openxmlformats.org/drawingml/2006/main"/>
        </p:blipFill>
        <p:spPr>
          <a:xfrm xmlns:a="http://schemas.openxmlformats.org/drawingml/2006/main">
            <a:off x="666750" y="1879104"/>
            <a:ext cx="5172075" cy="290929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E168D-4BFC-4F2D-A58F-B854C11F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863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6e14ae4fb46fb"/>
          <a:stretch xmlns:a="http://schemas.openxmlformats.org/drawingml/2006/main"/>
        </p:blipFill>
        <p:spPr>
          <a:xfrm xmlns:a="http://schemas.openxmlformats.org/drawingml/2006/main">
            <a:off x="6343650" y="1879104"/>
            <a:ext cx="5172075" cy="290929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E0F08-DEB3-4E87-AE3F-2995727B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 React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A8990-781F-425D-BFFF-0AFABAD7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57800"/>
            <a:ext cx="3429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Pantalla de login como entrada del usuario al flujo autenticado.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C1F7A-D8BE-4970-A534-227FD63E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14D3F"/>
          </a:solidFill>
          <a:ln xmlns:a="http://schemas.openxmlformats.org/drawingml/2006/main" w="0">
            <a:solidFill>
              <a:srgbClr val="D14D3F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5EBAE-3D27-4FFE-BAAE-982C0FF5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33337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Respuesta 401 como prueba de ruta protegida sin autenticacion.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5957-EA02-4654-BA0F-013D82E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01_frontend_login.png y 02_api_gateway_401_protegido.png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050F1-A72C-47C6-93CF-CB3D22E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79975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AAAB7-1E9D-4109-AAB5-47EEFC4B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6E7A0-86B9-4E8A-B9C1-1993CD1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84B61-21A3-4464-9DF1-9D2FAD0A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APIS REST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6171-8C22-4CCE-B2CC-E0D558A5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Swagger evidencia contratos REST separados por microservicio.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97684-0B04-4FA5-ABAB-9F58D87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Endpoints claros para auth, inventario, pedidos y envios.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9C461-4B5C-4089-9A91-417FF09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4de678da34f13"/>
          <a:stretch xmlns:a="http://schemas.openxmlformats.org/drawingml/2006/main"/>
        </p:blipFill>
        <p:spPr>
          <a:xfrm xmlns:a="http://schemas.openxmlformats.org/drawingml/2006/main">
            <a:off x="1546225" y="1543050"/>
            <a:ext cx="3251200" cy="1828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6C3AF-C901-4141-96BA-0281244C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Inventario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832F8-AC93-40C1-A912-BD23F2C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0495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ffdc8fcd6450c"/>
          <a:stretch xmlns:a="http://schemas.openxmlformats.org/drawingml/2006/main"/>
        </p:blipFill>
        <p:spPr>
          <a:xfrm xmlns:a="http://schemas.openxmlformats.org/drawingml/2006/main">
            <a:off x="7118350" y="1543050"/>
            <a:ext cx="3251200" cy="1828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34EA7-DADE-44E5-AB27-90BB7F6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052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85B29-7584-4702-9AB0-DB84D16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af772006b4253"/>
          <a:stretch xmlns:a="http://schemas.openxmlformats.org/drawingml/2006/main"/>
        </p:blipFill>
        <p:spPr>
          <a:xfrm xmlns:a="http://schemas.openxmlformats.org/drawingml/2006/main">
            <a:off x="1546225" y="3829050"/>
            <a:ext cx="3251200" cy="1828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F49BE-FD56-44A3-B47F-134E44D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Pedidos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7E572-087B-4D8D-A47E-25A4DE5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9095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c0579a4224817"/>
          <a:stretch xmlns:a="http://schemas.openxmlformats.org/drawingml/2006/main"/>
        </p:blipFill>
        <p:spPr>
          <a:xfrm xmlns:a="http://schemas.openxmlformats.org/drawingml/2006/main">
            <a:off x="7118350" y="3829050"/>
            <a:ext cx="3251200" cy="1828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42D77-9E22-42B7-AC91-76470F45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91200"/>
            <a:ext cx="14287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14D3F"/>
          </a:solidFill>
          <a:ln xmlns:a="http://schemas.openxmlformats.org/drawingml/2006/main" w="0">
            <a:solidFill>
              <a:srgbClr val="D14D3F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34167-887F-4EE6-BD66-490562F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capturas Swagger locales de los cuatro servicios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B0003-D3A2-41EA-9947-30A17400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26221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A5805-B232-4B2E-912B-13E13F3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C151D-7B34-4467-BD07-2C071C5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62BA7-00B3-4F76-A84F-3E850B9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FLUJO CRITICO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53CED-5BBE-4444-9540-BA0ED87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Pedido y despacho se coordinan por DTOs, no por tablas compartidas.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66B6-6442-4939-9F60-5949727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Circuit Breaker contiene fallas entre servicios.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AC9C3-519A-4741-8C67-E511BB2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A4294-2E75-4A7E-8B43-88E9798A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03FD4-F4E6-40A0-AD4C-BD114F6F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Cliente crea pedido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52EB5-E04F-4EF1-83B7-FCD812B8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524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React envia POST /orders con Bearer JWT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F9E7-19FF-4A70-91BA-4C93AA0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3238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ADEB9-F82C-4C1A-A8EA-5D30468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8368F-7AD4-4253-87EC-74467CB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1B63C-7980-44A5-A924-A6BB437B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52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Gateway valida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E5894-AE0E-43B9-A38F-616F43B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524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Control inicial de rutas y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9B7D6-FACB-4FE7-B4DC-87EBD842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238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94BB4-07A6-47CF-99D6-5E8BA71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B1E91-D369-492F-BFE0-7885080F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B2927-C7B6-4D54-B367-6B26DFA2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24150"/>
            <a:ext cx="152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Pedidos valida stock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489AF-620D-42C5-9197-7A221E12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1524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orders-service consulta inventario por 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1AF50-A4C6-4701-B5D1-115FB56A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3238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6F380-D9BC-4C6C-9983-69682CC3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F85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1EFF3-6875-4810-9673-17C8CDD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FBF91-0FBB-4C1F-8362-AB657D3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52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Inventario responde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C9363-7227-4A13-96E2-FA3FCE6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1524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Disponibilidad por DTO, sin acceso a DB ajena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CD677-08F2-4A5D-9EF1-94BF1EE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3238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F6B93-A8E4-42CA-9B9C-F113D18E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85950" cy="2000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14D3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3ED00-8CB3-47FD-910D-692F7A0E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14D3F"/>
          </a:solidFill>
          <a:ln xmlns:a="http://schemas.openxmlformats.org/drawingml/2006/main" w="0">
            <a:solidFill>
              <a:srgbClr val="D14D3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8B503C-2C33-4505-B292-519D44C5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24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Envios coordina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7310C-721D-41BA-9C68-D1BD79B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95650"/>
            <a:ext cx="1524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shipping consulta pedido confirmado y registra tracking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4B7C3-0D90-48D9-AACF-E57E73E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2382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resiliencia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F9731-BF80-4637-9B6D-9012EE0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52950"/>
            <a:ext cx="74295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Circuit Breaker se aplica en pedidos -&gt; inventario y envios -&gt; pedidos para devolver respuestas controladas si un servicio no esta disponible.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41130-FA2E-4B43-9B7B-DEE8A983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flujo arquitectonico SmartLogix y reglas del proyecto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D9CCC2-526C-4D1A-B12F-B9FC467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56589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19064-FB4F-45B2-918E-CFA0CE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BA3A-F3CA-453C-8753-5D60CDC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FA430-E269-4A27-AFA2-365ED342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PRUEBAS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AB0BC-FFE3-4140-800F-C4EA5BCD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JaCoCo muestra cobertura por servicio y reduce riesgo de regresion.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F142C-459D-4C38-8476-FFE2677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 evidencia cubre auth, Gateway, inventario, pedidos y envios.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4C35-292C-4FA5-A662-55794C1E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530ae9eac4730"/>
          <a:stretch xmlns:a="http://schemas.openxmlformats.org/drawingml/2006/main"/>
        </p:blipFill>
        <p:spPr>
          <a:xfrm xmlns:a="http://schemas.openxmlformats.org/drawingml/2006/main">
            <a:off x="824442" y="1514475"/>
            <a:ext cx="2827867" cy="15906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A0AB9-F559-4B8B-854E-0B82861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333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auth-service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78F2E-CC97-4417-8E76-153AB4C3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3ac820dd2412a"/>
          <a:stretch xmlns:a="http://schemas.openxmlformats.org/drawingml/2006/main"/>
        </p:blipFill>
        <p:spPr>
          <a:xfrm xmlns:a="http://schemas.openxmlformats.org/drawingml/2006/main">
            <a:off x="4443942" y="1514475"/>
            <a:ext cx="2827867" cy="15906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DE360-0E7C-4979-8EA3-4F802319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28975"/>
            <a:ext cx="1333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api-gateway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5C4FD-C6E1-4881-9C98-849534D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1f90a2f8d496f"/>
          <a:stretch xmlns:a="http://schemas.openxmlformats.org/drawingml/2006/main"/>
        </p:blipFill>
        <p:spPr>
          <a:xfrm xmlns:a="http://schemas.openxmlformats.org/drawingml/2006/main">
            <a:off x="8063442" y="1514475"/>
            <a:ext cx="2827867" cy="15906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B0005-277D-4F88-9EBC-EF398D1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28975"/>
            <a:ext cx="1333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inventario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9502F-54BE-4772-A3E1-3145791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4b28912ca413a"/>
          <a:stretch xmlns:a="http://schemas.openxmlformats.org/drawingml/2006/main"/>
        </p:blipFill>
        <p:spPr>
          <a:xfrm xmlns:a="http://schemas.openxmlformats.org/drawingml/2006/main">
            <a:off x="824442" y="3752850"/>
            <a:ext cx="2827867" cy="15906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CBD72-17EB-4ED9-BC4E-A96CD708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333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pedidos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80848-CD05-416F-A226-4324957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680f2fb9d4b7a"/>
          <a:stretch xmlns:a="http://schemas.openxmlformats.org/drawingml/2006/main"/>
        </p:blipFill>
        <p:spPr>
          <a:xfrm xmlns:a="http://schemas.openxmlformats.org/drawingml/2006/main">
            <a:off x="4443942" y="3752850"/>
            <a:ext cx="2827867" cy="15906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989D0-7F2B-4215-93AB-87449FEE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67350"/>
            <a:ext cx="1333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14D3F"/>
          </a:solidFill>
          <a:ln xmlns:a="http://schemas.openxmlformats.org/drawingml/2006/main" w="0">
            <a:solidFill>
              <a:srgbClr val="D14D3F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E74BE-9F28-44E8-A3F6-FB6F1B1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Cobertura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2CAE7-8503-4CFA-B2D1-CBC37DC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952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Los reportes por modulo respaldan controladores, servicios, seguridad y excepciones segun el alcance de cada microservicio.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DB8AF-125A-45C7-8FE5-581AF697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07-11_jacoco_*.png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20591-EA35-40A2-B549-C0599FB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39116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002D1A-FA10-456A-B1A0-775F49C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23328-8A1B-4B2C-A7D8-4DA1B16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49804-3745-41B8-95AF-C47E61BB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PRUEBAS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80705-5E8F-4B40-9778-0C6958E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8105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Vitest valida comportamiento de UI y capa cliente.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F001D-AD65-4E31-AFDE-9C76C96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2857500" cy="704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Testing Library cubre login, sesion y cliente HTTP.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1CBA-6292-4E1D-9495-04E1C88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477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e0167fe804569"/>
          <a:stretch xmlns:a="http://schemas.openxmlformats.org/drawingml/2006/main"/>
        </p:blipFill>
        <p:spPr>
          <a:xfrm xmlns:a="http://schemas.openxmlformats.org/drawingml/2006/main">
            <a:off x="742950" y="1745456"/>
            <a:ext cx="6324600" cy="35575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9162B-99B0-481D-A883-55385AA5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9525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27CC1-1A8D-478B-9845-F56B977C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14325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Vitest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Testing Library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jsdom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Cobertura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05AE9-320C-4099-B446-35CAFCC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12382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585C0-DA76-48D3-865F-5914746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31432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 captura permite defender que el frontend no solo compila: tambien verifica flujos criticos de autenticacion y uso de servicios.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C421B-5A49-4FF7-BF54-60D4337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Fuente: 12_vitest_frontend_coverage.png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590A7-BC28-4216-A8AC-688BB5A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02627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EE1A7-A884-43D3-B6DD-9E7DB58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5FE12-71C8-42C3-B6F3-1398D7E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Cierre de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D6CBE-509E-444D-A36D-D8011EED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239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SmartLogix queda defendible porque cada decision tecnica tiene evidencia visual.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A107-E3AA-42E8-9D67-8FA57400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619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C2146-0B86-4A64-B64B-175DE2D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React, Gateway, JWT y microservicios Spring Boot.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4CE97-176B-40CC-BC3B-231FF4D3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619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8617B-FC1F-40D8-B6E9-633A33C3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52775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Database per Service con referencias logicas.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887E2-0545-41A4-B7F5-6E503744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619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AE4BA-1A2F-494D-B60D-8E6C4542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Roles, rutas protegidas y minimo privilegio.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B1ACA-E60F-4142-9EE0-42F5587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1619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3B9F8-D1AE-49BC-9BD3-1342C995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0075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Swagger por servicio y endpoints REST claros.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474B6-9B2A-4608-8A13-72212F0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619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17BBE-61EF-4822-AAFA-7F5F97A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EE"/>
                </a:solidFill>
                <a:latin typeface="Aptos"/>
                <a:ea typeface="Aptos"/>
                <a:cs typeface="Aptos"/>
              </a:rPr>
              <a:t>JaCoCo backend y Vitest frontend.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78A1D-8857-483E-8698-9334193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52e56aea54ff3"/>
          <a:stretch xmlns:a="http://schemas.openxmlformats.org/drawingml/2006/main"/>
        </p:blipFill>
        <p:spPr>
          <a:xfrm xmlns:a="http://schemas.openxmlformats.org/drawingml/2006/main">
            <a:off x="8572500" y="1643063"/>
            <a:ext cx="2619375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C8057-9A86-48FB-8EF2-A2B7B5A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D0C3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175a0abf04179"/>
          <a:stretch xmlns:a="http://schemas.openxmlformats.org/drawingml/2006/main"/>
        </p:blipFill>
        <p:spPr>
          <a:xfrm xmlns:a="http://schemas.openxmlformats.org/drawingml/2006/main">
            <a:off x="8572500" y="3388574"/>
            <a:ext cx="2619375" cy="1461977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124C1-7A66-4461-BD61-7FAE3CA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6667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4D2"/>
                </a:solidFill>
                <a:latin typeface="Aptos"/>
                <a:ea typeface="Aptos"/>
                <a:cs typeface="Aptos"/>
              </a:rPr>
              <a:t>Archivo de respaldo: docs/evidencias-presentacion/INDICE_EVIDENCIAS.md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7ED0F-D633-478E-8FAD-5B9A156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9791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2026-06-06T20:54:05.5200000Z</dcterms:created>
  <dcterms:modified xsi:type="dcterms:W3CDTF">2026-06-06T20:54:05.5200000Z</dcterms:modified>
</coreProperties>
</file>